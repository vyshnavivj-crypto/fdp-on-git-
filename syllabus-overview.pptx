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60fa6edaf24e17" /><Relationship Type="http://schemas.openxmlformats.org/officeDocument/2006/relationships/extended-properties" Target="/docProps/app.xml" Id="R1c19c2d75a614e2f" /><Relationship Type="http://schemas.openxmlformats.org/officeDocument/2006/relationships/officeDocument" Target="/ppt/presentation.xml" Id="R99da533ee290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b6b6e2996b4d7e"/>
  </p:sldMasterIdLst>
  <p:notesMasterIdLst>
    <p:notesMasterId xmlns:r="http://schemas.openxmlformats.org/officeDocument/2006/relationships" r:id="R02c2b74e8ee14fc9"/>
  </p:notesMasterIdLst>
  <p:sldIdLst>
    <p:sldId xmlns:r="http://schemas.openxmlformats.org/officeDocument/2006/relationships" id="256" r:id="R1578441fdb5f4728"/>
    <p:sldId xmlns:r="http://schemas.openxmlformats.org/officeDocument/2006/relationships" id="257" r:id="Rb6dc4e9cb40c47f6"/>
    <p:sldId xmlns:r="http://schemas.openxmlformats.org/officeDocument/2006/relationships" id="258" r:id="R7222ea8abc564236"/>
    <p:sldId xmlns:r="http://schemas.openxmlformats.org/officeDocument/2006/relationships" id="259" r:id="R1d9165d7c92145ab"/>
    <p:sldId xmlns:r="http://schemas.openxmlformats.org/officeDocument/2006/relationships" id="260" r:id="Rf3850fd24eff409c"/>
    <p:sldId xmlns:r="http://schemas.openxmlformats.org/officeDocument/2006/relationships" id="261" r:id="R61cadbeb869e46e6"/>
    <p:sldId xmlns:r="http://schemas.openxmlformats.org/officeDocument/2006/relationships" id="262" r:id="R4a483d8680004606"/>
    <p:sldId xmlns:r="http://schemas.openxmlformats.org/officeDocument/2006/relationships" id="263" r:id="Rb0455fe71a7848a7"/>
    <p:sldId xmlns:r="http://schemas.openxmlformats.org/officeDocument/2006/relationships" id="264" r:id="Rab3ba54b888342bf"/>
    <p:sldId xmlns:r="http://schemas.openxmlformats.org/officeDocument/2006/relationships" id="265" r:id="R3a5e28c335ee4f1f"/>
    <p:sldId xmlns:r="http://schemas.openxmlformats.org/officeDocument/2006/relationships" id="266" r:id="Raeffabd1774741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e8c24006824129" /><Relationship Type="http://schemas.openxmlformats.org/officeDocument/2006/relationships/slideMaster" Target="/ppt/slideMasters/slideMaster1.xml" Id="Raeb6b6e2996b4d7e" /><Relationship Type="http://schemas.openxmlformats.org/officeDocument/2006/relationships/notesMaster" Target="/ppt/notesMasters/notesMaster1.xml" Id="R02c2b74e8ee14fc9" /><Relationship Type="http://schemas.openxmlformats.org/officeDocument/2006/relationships/presProps" Target="/ppt/presProps.xml" Id="R053f9077a9e5450b" /><Relationship Type="http://schemas.openxmlformats.org/officeDocument/2006/relationships/tableStyles" Target="/ppt/tableStyles.xml" Id="R3ec9cadf130143cc" /><Relationship Type="http://schemas.openxmlformats.org/officeDocument/2006/relationships/slide" Target="/ppt/slides/slide1.xml" Id="R1578441fdb5f4728" /><Relationship Type="http://schemas.openxmlformats.org/officeDocument/2006/relationships/slide" Target="/ppt/slides/slide2.xml" Id="Rb6dc4e9cb40c47f6" /><Relationship Type="http://schemas.openxmlformats.org/officeDocument/2006/relationships/slide" Target="/ppt/slides/slide3.xml" Id="R7222ea8abc564236" /><Relationship Type="http://schemas.openxmlformats.org/officeDocument/2006/relationships/slide" Target="/ppt/slides/slide4.xml" Id="R1d9165d7c92145ab" /><Relationship Type="http://schemas.openxmlformats.org/officeDocument/2006/relationships/slide" Target="/ppt/slides/slide5.xml" Id="Rf3850fd24eff409c" /><Relationship Type="http://schemas.openxmlformats.org/officeDocument/2006/relationships/slide" Target="/ppt/slides/slide6.xml" Id="R61cadbeb869e46e6" /><Relationship Type="http://schemas.openxmlformats.org/officeDocument/2006/relationships/slide" Target="/ppt/slides/slide7.xml" Id="R4a483d8680004606" /><Relationship Type="http://schemas.openxmlformats.org/officeDocument/2006/relationships/slide" Target="/ppt/slides/slide8.xml" Id="Rb0455fe71a7848a7" /><Relationship Type="http://schemas.openxmlformats.org/officeDocument/2006/relationships/slide" Target="/ppt/slides/slide9.xml" Id="Rab3ba54b888342bf" /><Relationship Type="http://schemas.openxmlformats.org/officeDocument/2006/relationships/slide" Target="/ppt/slides/slide10.xml" Id="R3a5e28c335ee4f1f" /><Relationship Type="http://schemas.openxmlformats.org/officeDocument/2006/relationships/slide" Target="/ppt/slides/slide11.xml" Id="Raeffabd1774741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724e93e8da42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2f870bbf2c4ebd" /><Relationship Type="http://schemas.openxmlformats.org/officeDocument/2006/relationships/notesMaster" Target="/ppt/notesMasters/notesMaster1.xml" Id="Rc8d721020d564c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972931a8bd4efd" /><Relationship Type="http://schemas.openxmlformats.org/officeDocument/2006/relationships/notesMaster" Target="/ppt/notesMasters/notesMaster1.xml" Id="R3fd6db6a66104a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15ae1daa3c4a14" /><Relationship Type="http://schemas.openxmlformats.org/officeDocument/2006/relationships/notesMaster" Target="/ppt/notesMasters/notesMaster1.xml" Id="R3c484f08e36043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54213d751a46b3" /><Relationship Type="http://schemas.openxmlformats.org/officeDocument/2006/relationships/notesMaster" Target="/ppt/notesMasters/notesMaster1.xml" Id="Ra786cc72c6a84f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e52465e585419f" /><Relationship Type="http://schemas.openxmlformats.org/officeDocument/2006/relationships/notesMaster" Target="/ppt/notesMasters/notesMaster1.xml" Id="Rf5029886fdba4d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f0e19587e04658" /><Relationship Type="http://schemas.openxmlformats.org/officeDocument/2006/relationships/notesMaster" Target="/ppt/notesMasters/notesMaster1.xml" Id="R0758038e19884c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f3630371644d84" /><Relationship Type="http://schemas.openxmlformats.org/officeDocument/2006/relationships/notesMaster" Target="/ppt/notesMasters/notesMaster1.xml" Id="Rcf5a300700634c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c79029dd094499" /><Relationship Type="http://schemas.openxmlformats.org/officeDocument/2006/relationships/notesMaster" Target="/ppt/notesMasters/notesMaster1.xml" Id="R470a1381bb7e45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740eab65fc4b20" /><Relationship Type="http://schemas.openxmlformats.org/officeDocument/2006/relationships/notesMaster" Target="/ppt/notesMasters/notesMaster1.xml" Id="R61856eee649242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2dd85d0af14c3c" /><Relationship Type="http://schemas.openxmlformats.org/officeDocument/2006/relationships/notesMaster" Target="/ppt/notesMasters/notesMaster1.xml" Id="R4eb1bca2c1b44d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5ce14d47704ead" /><Relationship Type="http://schemas.openxmlformats.org/officeDocument/2006/relationships/notesMaster" Target="/ppt/notesMasters/notesMaster1.xml" Id="Re57378060ea747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cfbd761bb49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baa4d72ce24214" /><Relationship Type="http://schemas.openxmlformats.org/officeDocument/2006/relationships/slideLayout" Target="/ppt/slideLayouts/slideLayout1.xml" Id="Rded904d6ae78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904d6ae78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440dee93c4e4b" /><Relationship Type="http://schemas.openxmlformats.org/officeDocument/2006/relationships/notesSlide" Target="/ppt/notesSlides/notesSlide1.xml" Id="Ra71252d07dc0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47a6694e14160" /><Relationship Type="http://schemas.openxmlformats.org/officeDocument/2006/relationships/notesSlide" Target="/ppt/notesSlides/notesSlide2.xml" Id="Rc215f51475a64f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87722085f49c7" /><Relationship Type="http://schemas.openxmlformats.org/officeDocument/2006/relationships/notesSlide" Target="/ppt/notesSlides/notesSlide3.xml" Id="Rdd702b516dfa4a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b1ecb3c5540ef" /><Relationship Type="http://schemas.openxmlformats.org/officeDocument/2006/relationships/notesSlide" Target="/ppt/notesSlides/notesSlide4.xml" Id="Rfdd00f0ddd634b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80c4c3aa844fc" /><Relationship Type="http://schemas.openxmlformats.org/officeDocument/2006/relationships/notesSlide" Target="/ppt/notesSlides/notesSlide5.xml" Id="R055dc5fee95444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34d012b844b7d" /><Relationship Type="http://schemas.openxmlformats.org/officeDocument/2006/relationships/notesSlide" Target="/ppt/notesSlides/notesSlide6.xml" Id="Rbfd968ae13e840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e8610bc474c93" /><Relationship Type="http://schemas.openxmlformats.org/officeDocument/2006/relationships/chart" Target="/ppt/slides/charts/chart1.xml" Id="R685750093d7e4159" /><Relationship Type="http://schemas.openxmlformats.org/officeDocument/2006/relationships/notesSlide" Target="/ppt/notesSlides/notesSlide7.xml" Id="Ra5acf4bfa62241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e8463ef374bfd" /><Relationship Type="http://schemas.openxmlformats.org/officeDocument/2006/relationships/notesSlide" Target="/ppt/notesSlides/notesSlide8.xml" Id="R04bcca555f9d43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c68d2cff24046" /><Relationship Type="http://schemas.openxmlformats.org/officeDocument/2006/relationships/notesSlide" Target="/ppt/notesSlides/notesSlide9.xml" Id="R84665c0bf91a47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eaba022d44703" /><Relationship Type="http://schemas.openxmlformats.org/officeDocument/2006/relationships/notesSlide" Target="/ppt/notesSlides/notesSlide10.xml" Id="R96d97d43edd943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0f457c0514483" /><Relationship Type="http://schemas.openxmlformats.org/officeDocument/2006/relationships/notesSlide" Target="/ppt/notesSlides/notesSlide11.xml" Id="Rc140eb4b29304a4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Experiments</c:v>
          </c:tx>
          <c:spPr>
            <a:solidFill xmlns:a="http://schemas.openxmlformats.org/drawingml/2006/main">
              <a:srgbClr val="000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L3</c:v>
              </c:pt>
              <c:pt idx="1">
                <c:v>L4</c:v>
              </c:pt>
              <c:pt idx="2">
                <c:v>L5</c:v>
              </c:pt>
              <c:pt idx="3">
                <c:v>L6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3</c:v>
              </c:pt>
              <c:pt idx="2">
                <c:v>1</c:v>
              </c:pt>
              <c:pt idx="3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Number of experiments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ro-panel">
            <a:extLst xmlns:a="http://schemas.openxmlformats.org/drawingml/2006/main">
              <a:ext uri="{FF2B5EF4-FFF2-40B4-BE49-F238E27FC236}">
                <a16:creationId xmlns:a16="http://schemas.microsoft.com/office/drawing/2014/main" id="{F9502E42-1C5B-4FC6-B28F-4125B1E7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3152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4CE8EBE-A7E3-4F54-BB96-DC679260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239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 Management with Git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44411E6-F872-4D51-82FD-BCB4D149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Semester 3 practical course | 25BCSAL307A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8B56F507-B3BE-407B-8B2E-8402FB63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8150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D975D43-F826-40AC-AE46-C9CBDA74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48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Course frame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91930B-A660-413C-8C8C-495A4CE0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05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credit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115338C-467A-4693-B161-74ACA85D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53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0:0:2:0 teaching hours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89E796-2CAB-48D4-B128-D7202064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Practical SEE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BADECE3-8B47-464C-9EF8-2CB2B3F4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8150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ABDB85-1B16-41F8-981E-6A1736DD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Evaluation frame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336DF9-EF7E-4778-B389-B83027D4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05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CIE 50 marks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B38DFB-3E2C-41F9-87CD-4B39B110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53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 50 marks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3370187-19CD-41DF-A8AB-C7A9C8FA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Total 100 marks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548FE5C-F381-45EB-A0CE-0F0C9B9B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265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1B89A64-8736-4026-9C50-8170CF61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Course Snapshot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EFF267E-7267-4364-AFF0-CB388FD6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"/>
            <a:ext cx="535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practical, hands-on Git lab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2A0420D-DACE-457E-90B5-B143CD9C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BE6C98C6-35AF-4993-BB3D-80A7688A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25812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BDA4BD-F25E-4019-966E-CC202B24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2124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23B5FC-4B92-4423-B2F1-CBEE5F9A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Credit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F829D50-FF0D-41DB-A4FE-0882F995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28825"/>
            <a:ext cx="25812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D50001-891E-4030-BD7D-67BF826F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95525"/>
            <a:ext cx="2124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2h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8565447-91B0-45D9-A06B-D8B7CA7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57575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Teaching hours per week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59C5B0DB-23BC-4A12-B78C-5B29B110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28825"/>
            <a:ext cx="25812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3AFF80A-8C4C-48D2-BDA0-97EF81A5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95525"/>
            <a:ext cx="2124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A336F54-5092-4EB1-97AE-64FC65FF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57575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CIE marks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F7E97D72-9D3F-4968-8FE3-E7CC33DE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28825"/>
            <a:ext cx="25812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923E194-68BF-4577-BBEC-0387D39C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95525"/>
            <a:ext cx="2124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F1E1E9-C62E-4525-9CCC-0E066405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57575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 marks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696D0676-1C11-4106-B31D-0DB01EBC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355B12D-D38D-46EC-98A1-4F6FF175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Passing rule: minimum 20/50 in CIE, 18/50 in SEE, and 40/100 in CIE + SEE together.</a:t>
            </a:r>
          </a:p>
        </p:txBody>
      </p:sp>
    </p:spTree>
    <p:extLst>
      <p:ext uri="{BB962C8B-B14F-4D97-AF65-F5344CB8AC3E}">
        <p14:creationId xmlns:p14="http://schemas.microsoft.com/office/powerpoint/2010/main" val="213650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2882D0F-F321-426E-B103-93ACA5E8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Course Objectives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196E51B-48D6-4FDB-99F9-5055692C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"/>
            <a:ext cx="535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What the lab is designed to build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64EABA8-9248-421F-94F5-C5EDFF29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692BAFA2-87AF-421C-B747-DD60E575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76400"/>
            <a:ext cx="55340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4FF57FD-45E2-41C3-932F-C1ED14AC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43100"/>
            <a:ext cx="496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 foundations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49459C-7D3B-4EC9-AD22-21C8DE28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00300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64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Initialize repositories, track files, commit changes, use .gitignore, and maintain README documentation.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0AA0EC3-7DA0-4077-AABB-7EECE587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55340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41CFE5-4C72-4038-A463-BAF4C1CE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496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Branch workflows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2FA54F-AC0A-4863-87A9-6FF0F25E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21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isolated work streams, merge changes, and resolve conflicts in controlled development.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3C2B93FF-EAFB-43EA-B93A-0A906831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162300"/>
            <a:ext cx="55340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38E6281-7751-4CCC-AA1F-87A409A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29000"/>
            <a:ext cx="496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Remote collaboration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2D4D1F6-16BE-49CB-AC2E-2BB25078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86200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clone, push, pull, fetch, Pull Requests, and review-based integration.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1B29920C-F48E-471E-AC47-F3736FC0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55340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629A7E8-BE39-4799-8676-939020F3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29000"/>
            <a:ext cx="496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History and recovery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733060F-4B17-4659-8B04-BD31B0C8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86200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 history, use tags, revert, cherry-pick, reflog, and accountability tools.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6992515B-0A95-454D-A8B3-360F8F4D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64820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3ED06AE-CEEA-4DF2-8583-570ABFC8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149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Quality automation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4E25170-BD1A-4EC2-9D5E-798B0874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72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Configure pre-commit checks and simple CI pipelines using workflow automation.</a:t>
            </a:r>
          </a:p>
        </p:txBody>
      </p:sp>
    </p:spTree>
    <p:extLst>
      <p:ext uri="{BB962C8B-B14F-4D97-AF65-F5344CB8AC3E}">
        <p14:creationId xmlns:p14="http://schemas.microsoft.com/office/powerpoint/2010/main" val="478294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D9222791-CFAE-4781-94C8-FDD99356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 Roadmap: Foundations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9F9A21D-459E-499D-9C2F-070D53FB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D3A218B-16A8-4D3E-B61B-C7C6B0B1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Experiments 1-4 establish the local repository workflow before students move to remote collaboration.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219075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66750"/>
                <a:gridCol w="3429000"/>
                <a:gridCol w="5715000"/>
                <a:gridCol w="1581150"/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No.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Experiment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Core Git Skills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Level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Repository setup, Git basics, documentation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init, status, add, commit, .gitignore, README.md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L3</a:t>
                      </a:r>
                    </a:p>
                  </a:txBody>
                  <a:tcPr marL="76200" marR="7620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Branch creation and parallel development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branch, switch, independent workspaces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L3</a:t>
                      </a:r>
                    </a:p>
                  </a:txBody>
                  <a:tcPr marL="76200" marR="7620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Merge operations and conflict resolution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merge, conflict markers, manual resolution, history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L4</a:t>
                      </a:r>
                    </a:p>
                  </a:txBody>
                  <a:tcPr marL="76200" marR="7620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interruption and safe recovery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stash, revert, cherry-pick, reflog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L4</a:t>
                      </a:r>
                    </a:p>
                  </a:txBody>
                  <a:tcPr marL="76200" marR="76200" marT="66675" marB="66675"/>
                </a:tc>
              </a:tr>
            </a:tbl>
          </a:graphicData>
        </a:graphic>
      </p:graphicFrame>
      <p:sp>
        <p:nvSpPr>
          <p:cNvPr id="5" name="section-dot">
            <a:extLst xmlns:a="http://schemas.openxmlformats.org/drawingml/2006/main">
              <a:ext uri="{FF2B5EF4-FFF2-40B4-BE49-F238E27FC236}">
                <a16:creationId xmlns:a16="http://schemas.microsoft.com/office/drawing/2014/main" id="{8F42B498-B8E9-45D7-A250-D0207098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A450F1-D40B-4EF7-8819-03796F90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97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First checkpoint: local version control fluency</a:t>
            </a:r>
          </a:p>
        </p:txBody>
      </p:sp>
    </p:spTree>
    <p:extLst>
      <p:ext uri="{BB962C8B-B14F-4D97-AF65-F5344CB8AC3E}">
        <p14:creationId xmlns:p14="http://schemas.microsoft.com/office/powerpoint/2010/main" val="1879852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A610EB6E-8DC5-4E3E-92D8-6E2EEFAF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 Roadmap: Collaboration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C901CC1-9BD2-45E4-AF9B-FD326916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D0D3B18-9566-4B09-A1C7-E861968E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Experiments 5-8 move from individual work to team workflows, releases, and accountability.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219075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66750"/>
                <a:gridCol w="3429000"/>
                <a:gridCol w="5715000"/>
                <a:gridCol w="1581150"/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No.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Experiment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Core Git Skills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Level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Remote setup and synchronization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clone, push, fetch, pull, sync local branch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L3</a:t>
                      </a:r>
                    </a:p>
                  </a:txBody>
                  <a:tcPr marL="76200" marR="7620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Pull Requests and collaborative review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branch, PR, comments, approval, merge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L5</a:t>
                      </a:r>
                    </a:p>
                  </a:txBody>
                  <a:tcPr marL="76200" marR="7620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 management with tags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lightweight tag, annotated tag, push tags, checkout tag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L3</a:t>
                      </a:r>
                    </a:p>
                  </a:txBody>
                  <a:tcPr marL="76200" marR="7620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Repository history audit and accountability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git log, git show, git blame, findings export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L4</a:t>
                      </a:r>
                    </a:p>
                  </a:txBody>
                  <a:tcPr marL="76200" marR="76200" marT="66675" marB="66675"/>
                </a:tc>
              </a:tr>
            </a:tbl>
          </a:graphicData>
        </a:graphic>
      </p:graphicFrame>
      <p:sp>
        <p:nvSpPr>
          <p:cNvPr id="5" name="section-dot">
            <a:extLst xmlns:a="http://schemas.openxmlformats.org/drawingml/2006/main">
              <a:ext uri="{FF2B5EF4-FFF2-40B4-BE49-F238E27FC236}">
                <a16:creationId xmlns:a16="http://schemas.microsoft.com/office/drawing/2014/main" id="{765463C2-CA60-4584-AC27-C097EAE6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0B5AE6-39CC-414A-BAD9-519B55F8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84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Second checkpoint: shared repository discipline</a:t>
            </a:r>
          </a:p>
        </p:txBody>
      </p:sp>
    </p:spTree>
    <p:extLst>
      <p:ext uri="{BB962C8B-B14F-4D97-AF65-F5344CB8AC3E}">
        <p14:creationId xmlns:p14="http://schemas.microsoft.com/office/powerpoint/2010/main" val="345453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C42C98D-A422-4193-BC42-6C4B3D6F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 Roadmap: Automation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281AEF2-1ED5-4CF2-89B1-5C347FCF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07D593B-F05B-48EB-8C25-564F456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Experiments 9-11 introduce modern engineering controls: quality gates, CI, releases, and rollback.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2333625"/>
          <a:ext xmlns:a="http://schemas.openxmlformats.org/drawingml/2006/main" cx="11391900" cy="2524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66750"/>
                <a:gridCol w="3619500"/>
                <a:gridCol w="5524500"/>
                <a:gridCol w="1581150"/>
              </a:tblGrid>
              <a:tr h="63103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No.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Experiment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Core Git Skills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Level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Pre-commit quality gates and security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hooks, formatting/lint checks, fake secret scan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L6</a:t>
                      </a:r>
                    </a:p>
                  </a:txBody>
                  <a:tcPr marL="76200" marR="76200" marT="66675" marB="66675"/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 automation with GitHub Actions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 YAML, push trigger, tests, status checks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L6</a:t>
                      </a:r>
                    </a:p>
                  </a:txBody>
                  <a:tcPr marL="76200" marR="76200" marT="66675" marB="66675"/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Integrated mini project workflow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branch, PR, CI, tag, rollback, final report</a:t>
                      </a:r>
                    </a:p>
                  </a:txBody>
                  <a:tcPr marL="76200" marR="76200" marT="66675" marB="666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L6</a:t>
                      </a:r>
                    </a:p>
                  </a:txBody>
                  <a:tcPr marL="76200" marR="76200" marT="66675" marB="66675"/>
                </a:tc>
              </a:tr>
            </a:tbl>
          </a:graphicData>
        </a:graphic>
      </p:graphicFrame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CCC12233-7135-43EB-92B4-A7CF8DCD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CAD1CF7-6131-4DEB-B635-0CB274C7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9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Capstone expectation: students submit a final workflow report showing feature branch -&gt; PR -&gt; CI -&gt; release tag -&gt; rollback.</a:t>
            </a:r>
          </a:p>
        </p:txBody>
      </p:sp>
    </p:spTree>
    <p:extLst>
      <p:ext uri="{BB962C8B-B14F-4D97-AF65-F5344CB8AC3E}">
        <p14:creationId xmlns:p14="http://schemas.microsoft.com/office/powerpoint/2010/main" val="7863335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FC955D8-6C5E-452F-B82A-1E38A8B0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Learning Level Progression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E0F3661-44B9-466C-8645-B10325ED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"/>
            <a:ext cx="535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From command fluency to automation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C4C3B17-39CC-4F5E-8966-463B45D0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5750093d7e4159"/>
          </a:graphicData>
        </a:graphic>
      </p:graphicFrame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48A3C0F3-B1D5-4A79-88A4-012F2D76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52600"/>
            <a:ext cx="33623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2FDD7F-D9F5-4112-BF72-66EC9559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19300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8EF3B00-9E77-418C-A203-33535F44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76500"/>
            <a:ext cx="2790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L3 covers setup, branches, remotes, and tags.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212A230-82C7-4D7B-9DC5-9548DBCF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71800"/>
            <a:ext cx="2790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L4 adds conflict handling, recovery, and audit.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D84AE98-8018-4F26-8D1F-F416209A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67100"/>
            <a:ext cx="2790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L5 formalizes Pull Request review.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C1A9D8-913D-4EA3-8DF2-070BB1CF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62400"/>
            <a:ext cx="2790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L6 brings hooks, CI, and integrated workflow control.</a:t>
            </a:r>
          </a:p>
        </p:txBody>
      </p:sp>
      <p:sp>
        <p:nvSpPr>
          <p:cNvPr id="11" name="section-dot">
            <a:extLst xmlns:a="http://schemas.openxmlformats.org/drawingml/2006/main">
              <a:ext uri="{FF2B5EF4-FFF2-40B4-BE49-F238E27FC236}">
                <a16:creationId xmlns:a16="http://schemas.microsoft.com/office/drawing/2014/main" id="{0241B2A7-DD2E-4DA7-8ADE-9D8D0731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09A7B0C-1FE8-4100-9193-64A31084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syllabus deliberately climbs toward professional Git practice.</a:t>
            </a:r>
          </a:p>
        </p:txBody>
      </p:sp>
    </p:spTree>
    <p:extLst>
      <p:ext uri="{BB962C8B-B14F-4D97-AF65-F5344CB8AC3E}">
        <p14:creationId xmlns:p14="http://schemas.microsoft.com/office/powerpoint/2010/main" val="1233201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3E93D43-C283-4CB4-A385-F44D13FE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Course Outcomes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5514362-534F-457F-8B88-F30D5D31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"/>
            <a:ext cx="535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Six demonstrable capabilities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172FFEA-6901-41BB-9842-AE88A24E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A53656C4-C5E1-4E1A-A4E5-5E263FC3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524000"/>
            <a:ext cx="55340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DDBC70-0845-4D83-9466-4B90729C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907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3D32F3-115D-4B7C-898B-D721FB8D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526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Apply Git basics: init, status, add, commit, .gitignore, and project documentation.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C990CEC-56F1-4ABB-A8C8-8F50F873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55340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BC1E78-2ADE-43BB-B28D-F26D2B64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6674B88-F004-4EDC-BD24-06A1AD03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Design branch-based workflows with merging and conflict resolution.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78E0E811-0D1E-4C7D-927C-4C93AE26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52750"/>
            <a:ext cx="55340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40B02C4-EB9B-4F51-AAD0-195E51CA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1945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71B86D-DA92-4F75-B27A-E416850B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813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 remote collaboration with clone, push, pull, fetch, PRs, and reviews.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15882A04-3275-4599-B2D5-4A7CDEB4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55340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D618374-30AF-4DBE-B9F4-A1A95E87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30BEABE-262D-4085-ABD7-978BF7BC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Configure pre-commit quality and security checks to prevent common errors.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93004C9E-7090-4606-B33B-68C9343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81500"/>
            <a:ext cx="55340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95AAAFE-B7C6-4F6A-A6DB-26743D86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482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CO5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F0862AD-B272-4A0A-9640-028A1069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101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CI workflows using YAML automation after code push events.</a:t>
            </a:r>
          </a:p>
        </p:txBody>
      </p:sp>
      <p:sp>
        <p:nvSpPr>
          <p:cNvPr id="19" name="panel">
            <a:extLst xmlns:a="http://schemas.openxmlformats.org/drawingml/2006/main">
              <a:ext uri="{FF2B5EF4-FFF2-40B4-BE49-F238E27FC236}">
                <a16:creationId xmlns:a16="http://schemas.microsoft.com/office/drawing/2014/main" id="{75CE21FA-AAD7-450B-9C9C-202B4031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81500"/>
            <a:ext cx="55340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8C6FF5B-365A-4F27-B6D5-7E00DB8B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482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CO6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49330B4-14B9-42C6-AB98-B415D8C6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01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Analyse history and perform safe recovery using tags, revert, cherry-pick, and related commands.</a:t>
            </a:r>
          </a:p>
        </p:txBody>
      </p:sp>
    </p:spTree>
    <p:extLst>
      <p:ext uri="{BB962C8B-B14F-4D97-AF65-F5344CB8AC3E}">
        <p14:creationId xmlns:p14="http://schemas.microsoft.com/office/powerpoint/2010/main" val="1269477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E6FE3C0-D73B-449B-9794-CA2F58FC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Continuous Internal Evaluation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CEE1797-D3EF-4745-A6C4-93C8A4F7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"/>
            <a:ext cx="535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50 marks, scaled from record and test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8EA8691-454A-4A65-9C86-6EE3411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6E4196C5-3F27-4472-A697-DA1F16CE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52600"/>
            <a:ext cx="342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C979B9-7AAF-4903-8A45-9EBA6F3D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Record / journal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6283009-ABB6-4FAA-B492-D2D6B88C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60% of CIE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7C5536-3B61-45F6-B2F9-029CF474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71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Scaled to 30 marks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DE6732-A39E-4682-9526-AFBE3B66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experiment write-up evaluated for 10 marks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385369F-936F-4A24-BF0F-0E9AC31B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62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Neatness and timely submission included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99948DEA-9879-4C2A-8B35-3D445796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342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BD849B3-3911-4097-8427-5CA8F497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Lab test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10B3FF-185B-47C4-B6A6-EF043AE8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40% of CIE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3F23667-1A5E-4063-8264-196847A7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100-mark test scaled to 20 marks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140C5D5-7571-4979-AE4E-70F51AD8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Conducted after all listed experiments are completed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51D001C0-91E7-4446-9EFC-D68D2101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52600"/>
            <a:ext cx="342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FA5F2F6-2272-4369-A64F-FDF982D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 evaluation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71B9403-D9AE-4607-9CA0-80336D43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76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60%: write-up, conduction, acceptable result, procedural knowledge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E5A9A73-F943-4423-BFB1-30803BA3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71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40%: viva-voce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5C7F71-43FB-4319-B86B-F39A53D6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467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Faculty may design suitable rubrics</a:t>
            </a:r>
          </a:p>
        </p:txBody>
      </p:sp>
      <p:sp>
        <p:nvSpPr>
          <p:cNvPr id="20" name="section-dot">
            <a:extLst xmlns:a="http://schemas.openxmlformats.org/drawingml/2006/main">
              <a:ext uri="{FF2B5EF4-FFF2-40B4-BE49-F238E27FC236}">
                <a16:creationId xmlns:a16="http://schemas.microsoft.com/office/drawing/2014/main" id="{7B102D76-DE71-4CF0-9CFB-AE8665E9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4FAF0A6-C603-481D-8F8A-1301E384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15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8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Total CIE = scaled record marks + scaled test marks</a:t>
            </a:r>
          </a:p>
        </p:txBody>
      </p:sp>
    </p:spTree>
    <p:extLst>
      <p:ext uri="{BB962C8B-B14F-4D97-AF65-F5344CB8AC3E}">
        <p14:creationId xmlns:p14="http://schemas.microsoft.com/office/powerpoint/2010/main" val="17502508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8096C01-B11C-463D-ABA8-D397DF73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Semester End Evaluation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CAB05F9-B5CA-4EC6-A707-2D88E9DE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"/>
            <a:ext cx="535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50 marks, practical examination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F2573BE-6673-486C-95EC-DDCA2F93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64A3A723-8A6A-4374-9B96-9AECD842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52600"/>
            <a:ext cx="342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909F32-6607-449B-9A03-D58B4F26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Exam conduct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418F21-92AD-4F45-8CB1-CFE141D8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Jointly conducted by two examiners of the same institute.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1396C7-5F08-4F4E-966D-1A7DA535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71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laboratory experiments are included.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39BD9DB-84CA-4721-A808-0BD968C8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Students pick one question from the prepared lot.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E0BF40D-AE73-40F1-B1BE-2152E2BA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342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CF3817D-41DA-4BBA-BF89-AF148003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Suggested rubric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91E1A09-3AEC-485A-B4F0-31FF27A5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Write-up: 20%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FC1B203-BD0E-4D30-AA3C-5C9342FD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Conduction procedure and result: 60%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4CB2711-DFC9-40E6-B7CA-D181A4FF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Viva-voce: 20%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3C4699-D8B6-46B8-93DE-F5742724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62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 evaluated for 100 and scaled to 50.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8D7710FF-9994-448A-8F22-2BFD7509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52600"/>
            <a:ext cx="342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8FA5C6-D1AF-4EBC-A178-9BEB5C26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Operational rules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8A9ED36-64F0-4C3B-8E16-C48567F4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76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Minimum duration: 2 hours.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29E1796-66E8-402C-A22E-2A07A225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71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Change of experiment allowed once.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F05B12F-E1C5-4DCB-B114-823202DC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467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changed, 15% of marks allotted to procedure are made zero.</a:t>
            </a:r>
          </a:p>
        </p:txBody>
      </p:sp>
      <p:sp>
        <p:nvSpPr>
          <p:cNvPr id="20" name="section-dot">
            <a:extLst xmlns:a="http://schemas.openxmlformats.org/drawingml/2006/main">
              <a:ext uri="{FF2B5EF4-FFF2-40B4-BE49-F238E27FC236}">
                <a16:creationId xmlns:a16="http://schemas.microsoft.com/office/drawing/2014/main" id="{B8497115-9422-4BFA-8200-A94FB1D9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6A12823-2BF6-46F1-826D-086CA87E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15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Rubrics may be decided jointly by examiners based on course type.</a:t>
            </a:r>
          </a:p>
        </p:txBody>
      </p:sp>
    </p:spTree>
    <p:extLst>
      <p:ext uri="{BB962C8B-B14F-4D97-AF65-F5344CB8AC3E}">
        <p14:creationId xmlns:p14="http://schemas.microsoft.com/office/powerpoint/2010/main" val="18606914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8A30D26-B7A3-4E2A-8095-7074C4A2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Suggested Learning Resources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AF1A435-0066-4418-A481-F76EF482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65E1405E-FC21-4BDB-8349-2FB524EB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52600"/>
            <a:ext cx="342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CE7879-2069-4EE4-B965-E25BBC92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Textbooks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7E8711-0DCB-4DBE-B76B-9CA678F0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 Control with Git, 3rd ed.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381DE7-1430-46A3-A72E-9D58A325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71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 Git, 2nd ed.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4AB6591-175D-4851-8426-3E91A7C8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 for Teams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19F2C54B-FC12-4C23-8BCA-996A2944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342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A1741D6-5A0C-4EB9-A209-2153ED7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 books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D534716-4FAA-4D6A-8555-982E6F38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DevOps Handbook, 2nd ed.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8174DCA-368E-4D98-AEE6-C018FFB2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Hands-on DevOps with Linux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B87E9942-8B2C-4EF2-8560-D7AD514B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52600"/>
            <a:ext cx="342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090A0A0-84B5-4C3D-94BB-9049AA9C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Online resources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AB5967B-79E6-49F9-8777-17DFCAF7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76500"/>
            <a:ext cx="28575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 official documentation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6242A46-D856-4327-90E5-76DC9662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48940"/>
            <a:ext cx="28575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GitHub Skills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48AA20D-6DFC-47AD-B062-527118D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421380"/>
            <a:ext cx="28575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 Git Branching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EDB814F-8E21-4DED-8C9D-1196529E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893820"/>
            <a:ext cx="28575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GitHub Actions documentation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9705366-3AAF-4AEB-B940-48BB5F8C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6260"/>
            <a:ext cx="28575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OWASP Top 10</a:t>
            </a:r>
          </a:p>
        </p:txBody>
      </p:sp>
      <p:sp>
        <p:nvSpPr>
          <p:cNvPr id="19" name="section-dot">
            <a:extLst xmlns:a="http://schemas.openxmlformats.org/drawingml/2006/main">
              <a:ext uri="{FF2B5EF4-FFF2-40B4-BE49-F238E27FC236}">
                <a16:creationId xmlns:a16="http://schemas.microsoft.com/office/drawing/2014/main" id="{DEAA5850-CA2F-48A9-AADE-B97C405E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AF73C65-107B-4742-9CE0-68E4BCEF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15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official docs and interactive tutorials as lab support material.</a:t>
            </a:r>
          </a:p>
        </p:txBody>
      </p:sp>
    </p:spTree>
    <p:extLst>
      <p:ext uri="{BB962C8B-B14F-4D97-AF65-F5344CB8AC3E}">
        <p14:creationId xmlns:p14="http://schemas.microsoft.com/office/powerpoint/2010/main" val="285253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2026-07-05T15:03:24.6370000Z</dcterms:created>
  <dcterms:modified xsi:type="dcterms:W3CDTF">2026-07-05T15:03:24.6370000Z</dcterms:modified>
</coreProperties>
</file>